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75B6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DIAGNÓSTICO: OS NÚMEROS DO FUNIL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128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 time faz ~200 reuniões por mês. 1 em cada 10 avança. 3% fecha contrato.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Funil Abr–Jun 2026 | FRANQUIA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1847088"/>
          <a:ext cx="594359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324"/>
                <a:gridCol w="835818"/>
                <a:gridCol w="835818"/>
                <a:gridCol w="835818"/>
                <a:gridCol w="835818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Métrica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Abril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Maio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Junho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404040"/>
                          </a:solidFill>
                        </a:rPr>
                        <a:t>CC1 Realizadas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187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296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175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658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404040"/>
                          </a:solidFill>
                        </a:rPr>
                        <a:t>CC2 Realizadas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404040"/>
                          </a:solidFill>
                        </a:rPr>
                        <a:t>Taxa CC1→CC2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8,6%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9,8%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11,4%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9,9%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404040"/>
                          </a:solidFill>
                        </a:rPr>
                        <a:t>Contratos fechados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3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404040"/>
                          </a:solidFill>
                        </a:rPr>
                        <a:t>Taxa CC1→Contrato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3,2%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4,7%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1,7%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3,5%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404040"/>
                          </a:solidFill>
                        </a:rPr>
                        <a:t>Receita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R$215k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R$515k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R$153k*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R$882k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4434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* Junho parcial — até dia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7276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Motivos de perda pós CC1 (454 perdidos)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55080" y="1847088"/>
          <a:ext cx="530351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4967"/>
                <a:gridCol w="964276"/>
                <a:gridCol w="964276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Motivo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Qtd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404040"/>
                          </a:solidFill>
                        </a:rPr>
                        <a:t>Sem perfil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115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404040"/>
                          </a:solidFill>
                        </a:rPr>
                        <a:t>Sem interesse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404040"/>
                          </a:solidFill>
                        </a:rPr>
                        <a:t>Sem retorno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17%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404040"/>
                          </a:solidFill>
                        </a:rPr>
                        <a:t>Sem dinheiro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404040"/>
                          </a:solidFill>
                        </a:rPr>
                        <a:t>Não pronto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404040"/>
                          </a:solidFill>
                        </a:rPr>
                        <a:t>Outros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404040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4663440"/>
            <a:ext cx="11612880" cy="1783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70916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PIPELINE ABERTO HOJE — OPORTUNIDADE IMEDIATA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347472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566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Oportunidade Quente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76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14 deals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424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2F2"/>
                </a:solidFill>
              </a:rPr>
              <a:t>~R$ 534k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5029200"/>
            <a:ext cx="347472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50566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Proposta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5376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12 deals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57424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2F2"/>
                </a:solidFill>
              </a:rPr>
              <a:t>~R$ 458k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5029200"/>
            <a:ext cx="347472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50566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Negociação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5376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 deals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57424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2F2"/>
                </a:solidFill>
              </a:rPr>
              <a:t>~R$ 191k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648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TOTAL: 31 deals em pipeline avançado = potencial ~R$ 1,2M já no funil — só dependendo de avanço, não de novos leads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75B6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DIAGNÓSTICO INDIVIDUAL: QUEM, ONDE E POR QUÊ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128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 closers geram 39% da receita. 3 closers somam 172 CC1 sem construir pipeline novo.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CC1 → CC2 → Contrato por closer | Abr–Jun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1847088"/>
          <a:ext cx="722375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3144"/>
                <a:gridCol w="740898"/>
                <a:gridCol w="740898"/>
                <a:gridCol w="926123"/>
                <a:gridCol w="1018735"/>
                <a:gridCol w="1203960"/>
              </a:tblGrid>
              <a:tr h="349134">
                <a:tc>
                  <a:txBody>
                    <a:bodyPr wrap="non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Closer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CC1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CC2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Avanço*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Contratos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Receita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49134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</a:rPr>
                        <a:t>Lorenzo Coronel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705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7050"/>
                          </a:solidFill>
                        </a:rPr>
                        <a:t>R$ 185k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349134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</a:rPr>
                        <a:t>Leonardo Ribeiro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705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7050"/>
                          </a:solidFill>
                        </a:rPr>
                        <a:t>R$ 170k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349134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</a:rPr>
                        <a:t>Adalberto Neto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R$ 98k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</a:rPr>
                        <a:t>William Dias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R$ 85k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</a:rPr>
                        <a:t>Émerson Cavitchoni</a:t>
                      </a:r>
                    </a:p>
                  </a:txBody>
                  <a:tcPr>
                    <a:solidFill>
                      <a:srgbClr val="FFE5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FFE5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999999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E5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3%</a:t>
                      </a:r>
                    </a:p>
                  </a:txBody>
                  <a:tcPr>
                    <a:solidFill>
                      <a:srgbClr val="FFE5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2†</a:t>
                      </a:r>
                    </a:p>
                  </a:txBody>
                  <a:tcPr>
                    <a:solidFill>
                      <a:srgbClr val="FFE5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R$ 75k†</a:t>
                      </a:r>
                    </a:p>
                  </a:txBody>
                  <a:tcPr>
                    <a:solidFill>
                      <a:srgbClr val="FFE5E5"/>
                    </a:solidFill>
                  </a:tcPr>
                </a:tc>
              </a:tr>
              <a:tr h="349134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</a:rPr>
                        <a:t>Suzanny Mauren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R$ 44k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</a:rPr>
                        <a:t>Samuel Brião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R$ 30k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34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</a:rPr>
                        <a:t>Felippe Porcella</a:t>
                      </a:r>
                    </a:p>
                  </a:txBody>
                  <a:tcPr>
                    <a:solidFill>
                      <a:srgbClr val="FFE5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E5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999999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E5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999999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E5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1†</a:t>
                      </a:r>
                    </a:p>
                  </a:txBody>
                  <a:tcPr>
                    <a:solidFill>
                      <a:srgbClr val="FFE5E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R$ 35k†</a:t>
                      </a:r>
                    </a:p>
                  </a:txBody>
                  <a:tcPr>
                    <a:solidFill>
                      <a:srgbClr val="FFE5E5"/>
                    </a:solidFill>
                  </a:tcPr>
                </a:tc>
              </a:tr>
              <a:tr h="349134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</a:rPr>
                        <a:t>Fred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999999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999999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9140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04040"/>
                          </a:solidFill>
                        </a:rPr>
                        <a:t>Thuany Ghabril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R$ 35k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7150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* Deals abertos em Op.Quente/Proposta/Neg. hoje — proxy de CC2 onde o registro foi incorreto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9436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† Contratos de pipeline anterior ao Q2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57276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FOCO IMEDIATO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1847088"/>
            <a:ext cx="429768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847088"/>
            <a:ext cx="109728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89280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🔴 Émerson Cavitchoni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212848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72 CC1 · zero CC2 registrada · fecha deals antigos
Não está construindo pipeline novo em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3063240"/>
            <a:ext cx="429768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3063240"/>
            <a:ext cx="109728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31089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🔴 Felippe Porcella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4290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50 CC1 · zero CC2 · zero deals avançados abertos
Pipeline do Q2 completamente parado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4279392"/>
            <a:ext cx="429768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4279392"/>
            <a:ext cx="109728" cy="109728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432511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🟡 William Dias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645152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78 CC1 · apenas 6% de aproveitamento
Alto volume, baixo avanço — grande espaço de melhora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5495544"/>
            <a:ext cx="429768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5495544"/>
            <a:ext cx="109728" cy="109728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554126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🟢 Referência do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5861304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2F2F2"/>
                </a:solidFill>
              </a:rPr>
              <a:t>Lorenzo + Leonardo = R$ 355k (39% da receita)
O que eles fazem precisa virar processo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75B6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PLANO DE AÇÃO: 3 EIXOS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128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Não falta volume. Falta converter o que já está na mesa.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749039" cy="4846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3749039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910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EIXO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59105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Individual: tratar o problema de cada um na raiz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103120"/>
            <a:ext cx="731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1:1 semanal focado em 1 deal travado — diagnóstico ao vivo no CRM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761487"/>
            <a:ext cx="731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7157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Émerson e Felippe: mapear todos os deals abertos e última atividade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419856"/>
            <a:ext cx="731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3741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Lorenzo e Leonardo: documentar o processo de avanço CC1→CC2 para replicar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989320"/>
            <a:ext cx="3566160" cy="3200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600760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CCCCC"/>
                </a:solidFill>
              </a:rPr>
              <a:t>Como medir: deals movidos de SQL para Op.Quente por semana, por closer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1572768"/>
            <a:ext cx="3749039" cy="4846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59" y="1572768"/>
            <a:ext cx="3749039" cy="41148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399" y="15910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EIXO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199" y="159105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Conhecimento: alinhar o que o time sabe sobre o que vende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61688" y="2103120"/>
            <a:ext cx="73152" cy="73152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2057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Definir o perfil real do franqueado ideal — 'sem perfil' = 25% das perdas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1688" y="2761487"/>
            <a:ext cx="73152" cy="73152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27157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Playbook de objeções para os top 3 motivos: sem perfil, interesse, retorno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1688" y="3419856"/>
            <a:ext cx="73152" cy="73152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33741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Calibragem quinzenal: o que conta como SQL, quando proposta faz sentido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399" y="5989320"/>
            <a:ext cx="3566160" cy="3200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6551" y="600760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CCCCC"/>
                </a:solidFill>
              </a:rPr>
              <a:t>Como medir: % de perdas por 'Sem perfil' → meta abaixo de 15%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1572768"/>
            <a:ext cx="3749039" cy="4846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1572768"/>
            <a:ext cx="3749039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15910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EIXO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159105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Rituais: o tempo do lead não é o tempo do mês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39327" y="2103120"/>
            <a:ext cx="73152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2057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0–3 dias pós CC1: follow-up e proposta de CC2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39327" y="2761487"/>
            <a:ext cx="73152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27157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4–7 dias sem resposta: reaquecimento ativo (WhatsApp + ligação)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39327" y="3419856"/>
            <a:ext cx="73152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85632" y="33741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8–15 dias em Op.: proposta ou descarte — sem deals fantasmas no funil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9327" y="4078224"/>
            <a:ext cx="73152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85632" y="403250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2F2F2"/>
                </a:solidFill>
              </a:rPr>
              <a:t>+30 dias sem avanço: reciclar para SDR ou encerrar com motivo registrado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5989320"/>
            <a:ext cx="3566160" cy="3200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94192" y="600760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CCCCC"/>
                </a:solidFill>
              </a:rPr>
              <a:t>Como medir: tempo médio por etapa + R$ em Proposta/Neg. parados há +15 dias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1052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Potencial imediato: R$ 1,2M em 31 deals abertos  ·  Meta 60 dias: CC1→CC2 de 10% → 20%  ·  Ticket médio: R$ 38k  ·  A receita está no funil — precisa de avanço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